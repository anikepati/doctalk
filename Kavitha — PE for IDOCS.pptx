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scope: Kavitha already operates at Principal level — she sets architecture others build on (O2A blueprint), creates new IP (3 patent applications, DocBrain), and converts innovation into production (IDOCS live in 45 days; prompt optimization now in production). All numbers other than 45 days and 3 patents are illustrative — replace with actuals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(dark tiles) is delivery and scale; second row is quality and business value. Close on the enterprise band, including Arize observability, where Kavitha led IDOCS onboarding and then guided other LOBs through theirs: Kavitha’s work is not confined to IDOCS — these are horizontal capabilities other lines of business have adopted, which is the clearest signal of Principal-level scope. All numbers except 45 days are illustrative — replace with actuals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873720"/>
            <a:ext cx="1076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3000" dirty="0">
                <a:solidFill>
                  <a:srgbClr val="1324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597620"/>
            <a:ext cx="10668000" cy="444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873720"/>
            <a:ext cx="1076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3000" dirty="0">
                <a:solidFill>
                  <a:srgbClr val="1324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597620"/>
            <a:ext cx="10668000" cy="444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243D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6096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6F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PRINCIPAL ENGINEER PROMOTION · IDOCS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711200" y="8737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324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Kavitha: setting the technical direction for IDOCS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1200" y="1343620"/>
            <a:ext cx="1109268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Architects at enterprise scale, invents what doesn’t exist yet, and turns innovation into production outcomes.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1200" y="1769666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47466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45 days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376686"/>
            <a:ext cx="22368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to 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1700" y="1769666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10" name="Text 8"/>
          <p:cNvSpPr/>
          <p:nvPr/>
        </p:nvSpPr>
        <p:spPr>
          <a:xfrm>
            <a:off x="3644900" y="1947466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 patents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44900" y="2376686"/>
            <a:ext cx="22368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 led as inventor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69666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400" y="1947466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75400" y="2376686"/>
            <a:ext cx="223685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Credit agreement fields automated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02700" y="1769666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05900" y="1947466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20K+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05900" y="2376686"/>
            <a:ext cx="223685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Documents processed by DocBrain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4375" y="3157041"/>
            <a:ext cx="3481884" cy="3088184"/>
          </a:xfrm>
          <a:prstGeom prst="roundRect">
            <a:avLst>
              <a:gd name="adj" fmla="val 2365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150" y="3363416"/>
            <a:ext cx="31088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4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Architecture at Scale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4956" y="3724077"/>
            <a:ext cx="3002458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Authored the blueprint converting QA use cases into agentic workflows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Scaled O2A from 20 pilot use cases to 120+ in production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the standard for agent design and agent data acquisition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5009" y="3157041"/>
            <a:ext cx="3481933" cy="3088184"/>
          </a:xfrm>
          <a:prstGeom prst="roundRect">
            <a:avLst>
              <a:gd name="adj" fmla="val 2365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6784" y="3363416"/>
            <a:ext cx="31089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4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Innovation &amp; IP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85590" y="3724077"/>
            <a:ext cx="3002509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Led 3 patent filings: O2A, SOP generation, DB &amp; API discovery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Originated DocBrain for automated entity detection and extraction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Took ground-truth prompt optimization to production: 18% accuracy lift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95692" y="3157041"/>
            <a:ext cx="3481933" cy="3088184"/>
          </a:xfrm>
          <a:prstGeom prst="roundRect">
            <a:avLst>
              <a:gd name="adj" fmla="val 2365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7467" y="3363416"/>
            <a:ext cx="310893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4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Enterprise Influence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26273" y="3724077"/>
            <a:ext cx="3002509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Drove enterprise AI observability on Arize, guiding 6 LOBs to onboard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Shaped org AI strategy: reusable agent skills adopted by 5 LOBs</a:t>
            </a:r>
            <a:endParaRPr lang="en-US" sz="1200" dirty="0"/>
          </a:p>
          <a:p>
            <a:pPr algn="l" marL="155194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Trusted voice to senior technology leadership through high-impact demos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3243D"/>
          </a:solidFill>
          <a:ln/>
        </p:spPr>
      </p:sp>
      <p:sp>
        <p:nvSpPr>
          <p:cNvPr id="3" name="Text 1"/>
          <p:cNvSpPr/>
          <p:nvPr/>
        </p:nvSpPr>
        <p:spPr>
          <a:xfrm>
            <a:off x="711200" y="609600"/>
            <a:ext cx="11092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F6F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711200" y="873720"/>
            <a:ext cx="110926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324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Impact by the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1200" y="1496020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820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45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103041"/>
            <a:ext cx="22368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to production for IDOCS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1700" y="1496020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9" name="Text 7"/>
          <p:cNvSpPr/>
          <p:nvPr/>
        </p:nvSpPr>
        <p:spPr>
          <a:xfrm>
            <a:off x="3644900" y="1673820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120+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44900" y="2103041"/>
            <a:ext cx="22368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 use cases running on O2A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96020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1673820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60%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75400" y="2103041"/>
            <a:ext cx="22368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use-case onboarding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02700" y="1496020"/>
            <a:ext cx="2578100" cy="1181001"/>
          </a:xfrm>
          <a:prstGeom prst="roundRect">
            <a:avLst>
              <a:gd name="adj" fmla="val 6452"/>
            </a:avLst>
          </a:prstGeom>
          <a:solidFill>
            <a:srgbClr val="13243D"/>
          </a:solidFill>
          <a:ln/>
        </p:spPr>
      </p:sp>
      <p:sp>
        <p:nvSpPr>
          <p:cNvPr id="15" name="Text 13"/>
          <p:cNvSpPr/>
          <p:nvPr/>
        </p:nvSpPr>
        <p:spPr>
          <a:xfrm>
            <a:off x="9105900" y="1673820"/>
            <a:ext cx="22368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3B86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92%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05900" y="2103041"/>
            <a:ext cx="223685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C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Credit agreement extraction accuracy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4375" y="2832596"/>
            <a:ext cx="2571750" cy="1187351"/>
          </a:xfrm>
          <a:prstGeom prst="roundRect">
            <a:avLst>
              <a:gd name="adj" fmla="val 6150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750" y="301357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F7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20K+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0750" y="3442791"/>
            <a:ext cx="222377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Documents processed by DocBrain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4875" y="2832596"/>
            <a:ext cx="2571750" cy="1187351"/>
          </a:xfrm>
          <a:prstGeom prst="roundRect">
            <a:avLst>
              <a:gd name="adj" fmla="val 6150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1250" y="301357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F7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1250" y="3442791"/>
            <a:ext cx="222377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Reduction in manual review effort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5375" y="2832596"/>
            <a:ext cx="2571750" cy="1187351"/>
          </a:xfrm>
          <a:prstGeom prst="roundRect">
            <a:avLst>
              <a:gd name="adj" fmla="val 6150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1750" y="301357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F7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25K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81750" y="3442791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Analyst hours saved per year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05875" y="2832596"/>
            <a:ext cx="2571750" cy="1187351"/>
          </a:xfrm>
          <a:prstGeom prst="roundRect">
            <a:avLst>
              <a:gd name="adj" fmla="val 6150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2250" y="301357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F7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$3.5M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12250" y="3442791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Annual cost avoidance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1200" y="4226322"/>
            <a:ext cx="1109268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4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Enterprise horizontal capabilities, adopted across 6 LOBs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14375" y="4590157"/>
            <a:ext cx="2025650" cy="1022300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5350" y="4745732"/>
            <a:ext cx="1714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O2A agentic blueprint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5350" y="5258792"/>
            <a:ext cx="1714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Adopted by 4 LOBs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98775" y="4590157"/>
            <a:ext cx="2025650" cy="1022300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79750" y="4745732"/>
            <a:ext cx="1714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Reusable agent skills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79750" y="5258792"/>
            <a:ext cx="1714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Adopted by 5 LOBs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83175" y="4590157"/>
            <a:ext cx="2025650" cy="1022300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64150" y="4745732"/>
            <a:ext cx="18415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DocBrain extraction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64150" y="5027662"/>
            <a:ext cx="1714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Adopted by 3 LOBs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67575" y="4590157"/>
            <a:ext cx="2025650" cy="1022300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48550" y="4745732"/>
            <a:ext cx="17145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optimization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48550" y="5258792"/>
            <a:ext cx="17145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Adopted by 4 LOBs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51975" y="4590157"/>
            <a:ext cx="2025650" cy="1022300"/>
          </a:xfrm>
          <a:prstGeom prst="roundRect">
            <a:avLst>
              <a:gd name="adj" fmla="val 7143"/>
            </a:avLst>
          </a:prstGeom>
          <a:solidFill>
            <a:srgbClr val="FDFCF9"/>
          </a:solidFill>
          <a:ln w="6350">
            <a:solidFill>
              <a:srgbClr val="DDD9C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32950" y="4745732"/>
            <a:ext cx="17145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4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Arize observability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632950" y="5027662"/>
            <a:ext cx="171450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Guided 6 LOBs to onboard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vitha — PE for IDOCS">
  <a:themeElements>
    <a:clrScheme name="Kavitha — PE for IDOCS">
      <a:dk1>
        <a:srgbClr val="13243D"/>
      </a:dk1>
      <a:lt1>
        <a:srgbClr val="F6F5F1"/>
      </a:lt1>
      <a:dk2>
        <a:srgbClr val="4C586A"/>
      </a:dk2>
      <a:lt2>
        <a:srgbClr val="DFE0DF"/>
      </a:lt2>
      <a:accent1>
        <a:srgbClr val="E3B865"/>
      </a:accent1>
      <a:accent2>
        <a:srgbClr val="1F6F78"/>
      </a:accent2>
      <a:accent3>
        <a:srgbClr val="D5DCE6"/>
      </a:accent3>
      <a:accent4>
        <a:srgbClr val="3D4A5C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Kavitha — PE for IDOC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Kavitha — PE for IDOCS</dc:title>
  <dc:subject/>
  <dc:creator/>
  <cp:lastModifiedBy/>
  <cp:revision>1</cp:revision>
  <dcterms:created xsi:type="dcterms:W3CDTF">2026-10-22T01:09:35Z</dcterms:created>
  <dcterms:modified xsi:type="dcterms:W3CDTF">2026-10-22T01:09:35Z</dcterms:modified>
</cp:coreProperties>
</file>